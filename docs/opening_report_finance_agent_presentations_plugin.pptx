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5b1d025a754f90" /><Relationship Type="http://schemas.openxmlformats.org/officeDocument/2006/relationships/extended-properties" Target="/docProps/app.xml" Id="R75a620d7ee9641e4" /><Relationship Type="http://schemas.openxmlformats.org/officeDocument/2006/relationships/officeDocument" Target="/ppt/presentation.xml" Id="Rbdefe847659d47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f63d88c9f14ec6"/>
  </p:sldMasterIdLst>
  <p:notesMasterIdLst>
    <p:notesMasterId xmlns:r="http://schemas.openxmlformats.org/officeDocument/2006/relationships" r:id="Rc36db4c625254ee7"/>
  </p:notesMasterIdLst>
  <p:sldIdLst>
    <p:sldId xmlns:r="http://schemas.openxmlformats.org/officeDocument/2006/relationships" id="256" r:id="R381b7c6b3e834436"/>
    <p:sldId xmlns:r="http://schemas.openxmlformats.org/officeDocument/2006/relationships" id="257" r:id="R4fc0961a155d4b20"/>
    <p:sldId xmlns:r="http://schemas.openxmlformats.org/officeDocument/2006/relationships" id="258" r:id="Rb11064414cf5472c"/>
    <p:sldId xmlns:r="http://schemas.openxmlformats.org/officeDocument/2006/relationships" id="259" r:id="Ra281b883a4cb4f28"/>
    <p:sldId xmlns:r="http://schemas.openxmlformats.org/officeDocument/2006/relationships" id="260" r:id="R5aecc6debcd74c8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8abc0a7c1a4a61" /><Relationship Type="http://schemas.openxmlformats.org/officeDocument/2006/relationships/slideMaster" Target="/ppt/slideMasters/slideMaster1.xml" Id="Re1f63d88c9f14ec6" /><Relationship Type="http://schemas.openxmlformats.org/officeDocument/2006/relationships/notesMaster" Target="/ppt/notesMasters/notesMaster1.xml" Id="Rc36db4c625254ee7" /><Relationship Type="http://schemas.openxmlformats.org/officeDocument/2006/relationships/presProps" Target="/ppt/presProps.xml" Id="R86e7ad9d5b0c4381" /><Relationship Type="http://schemas.openxmlformats.org/officeDocument/2006/relationships/viewProps" Target="/ppt/viewProps.xml" Id="R4ea8ff7a84f645f8" /><Relationship Type="http://schemas.openxmlformats.org/officeDocument/2006/relationships/tableStyles" Target="/ppt/tableStyles.xml" Id="Rdb2a6f1c357b414c" /><Relationship Type="http://schemas.openxmlformats.org/officeDocument/2006/relationships/slide" Target="/ppt/slides/slide1.xml" Id="R381b7c6b3e834436" /><Relationship Type="http://schemas.openxmlformats.org/officeDocument/2006/relationships/slide" Target="/ppt/slides/slide2.xml" Id="R4fc0961a155d4b20" /><Relationship Type="http://schemas.openxmlformats.org/officeDocument/2006/relationships/slide" Target="/ppt/slides/slide3.xml" Id="Rb11064414cf5472c" /><Relationship Type="http://schemas.openxmlformats.org/officeDocument/2006/relationships/slide" Target="/ppt/slides/slide4.xml" Id="Ra281b883a4cb4f28" /><Relationship Type="http://schemas.openxmlformats.org/officeDocument/2006/relationships/slide" Target="/ppt/slides/slide5.xml" Id="R5aecc6debcd74c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1f09e8d13f49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8f6602bf494fc3" /><Relationship Type="http://schemas.openxmlformats.org/officeDocument/2006/relationships/notesMaster" Target="/ppt/notesMasters/notesMaster1.xml" Id="R251d94a819ec4d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e720aee23f4410" /><Relationship Type="http://schemas.openxmlformats.org/officeDocument/2006/relationships/notesMaster" Target="/ppt/notesMasters/notesMaster1.xml" Id="R72effdd2525841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36f1eccb6d48b8" /><Relationship Type="http://schemas.openxmlformats.org/officeDocument/2006/relationships/notesMaster" Target="/ppt/notesMasters/notesMaster1.xml" Id="R5e3a35b253434e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199aced32c4214" /><Relationship Type="http://schemas.openxmlformats.org/officeDocument/2006/relationships/notesMaster" Target="/ppt/notesMasters/notesMaster1.xml" Id="Rd447609ffe1646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10c0c0adce4024" /><Relationship Type="http://schemas.openxmlformats.org/officeDocument/2006/relationships/notesMaster" Target="/ppt/notesMasters/notesMaster1.xml" Id="Rd2482f0df9d64c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f04645b1074b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8705f1874f4618" /><Relationship Type="http://schemas.openxmlformats.org/officeDocument/2006/relationships/slideLayout" Target="/ppt/slideLayouts/slideLayout1.xml" Id="R1fd506ca88474f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d506ca88474f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91ce0dc114516" /><Relationship Type="http://schemas.openxmlformats.org/officeDocument/2006/relationships/image" Target="/ppt/media/image.png" Id="R96aa51d0f4d44c06" /><Relationship Type="http://schemas.openxmlformats.org/officeDocument/2006/relationships/image" Target="/ppt/media/image.svg" Id="R5b57159bd8a5416b" /><Relationship Type="http://schemas.openxmlformats.org/officeDocument/2006/relationships/image" Target="/ppt/media/image2.png" Id="R56f9c7f6a0394166" /><Relationship Type="http://schemas.openxmlformats.org/officeDocument/2006/relationships/image" Target="/ppt/media/image2.svg" Id="R2610f142f7954ed4" /><Relationship Type="http://schemas.openxmlformats.org/officeDocument/2006/relationships/notesSlide" Target="/ppt/notesSlides/notesSlide1.xml" Id="Rc8922aa0fe7c45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3b4b5afa44a87" /><Relationship Type="http://schemas.openxmlformats.org/officeDocument/2006/relationships/image" Target="/ppt/media/image3.png" Id="R1849048d64b2414d" /><Relationship Type="http://schemas.openxmlformats.org/officeDocument/2006/relationships/image" Target="/ppt/media/image3.svg" Id="R0666015e57b84728" /><Relationship Type="http://schemas.openxmlformats.org/officeDocument/2006/relationships/image" Target="/ppt/media/image4.png" Id="Rf5a024c94cfc4d49" /><Relationship Type="http://schemas.openxmlformats.org/officeDocument/2006/relationships/image" Target="/ppt/media/image4.svg" Id="R6a454a5ab2d44b9f" /><Relationship Type="http://schemas.openxmlformats.org/officeDocument/2006/relationships/image" Target="/ppt/media/image5.png" Id="Ref1c8b734846448f" /><Relationship Type="http://schemas.openxmlformats.org/officeDocument/2006/relationships/image" Target="/ppt/media/image5.svg" Id="Rd73d6c765d0e4864" /><Relationship Type="http://schemas.openxmlformats.org/officeDocument/2006/relationships/image" Target="/ppt/media/image6.png" Id="R59d220a89f8046af" /><Relationship Type="http://schemas.openxmlformats.org/officeDocument/2006/relationships/image" Target="/ppt/media/image6.svg" Id="Ra042a34f2a3b4a2d" /><Relationship Type="http://schemas.openxmlformats.org/officeDocument/2006/relationships/notesSlide" Target="/ppt/notesSlides/notesSlide2.xml" Id="Ra47be2c02e7d43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22a21c42a4b5b" /><Relationship Type="http://schemas.openxmlformats.org/officeDocument/2006/relationships/image" Target="/ppt/media/image7.png" Id="Rd0bb143cef384f36" /><Relationship Type="http://schemas.openxmlformats.org/officeDocument/2006/relationships/image" Target="/ppt/media/image7.svg" Id="Rf8e03b55f78748bc" /><Relationship Type="http://schemas.openxmlformats.org/officeDocument/2006/relationships/image" Target="/ppt/media/image8.png" Id="R7a9260d7a74a4c3d" /><Relationship Type="http://schemas.openxmlformats.org/officeDocument/2006/relationships/image" Target="/ppt/media/image8.svg" Id="R6f68f1bb42114db4" /><Relationship Type="http://schemas.openxmlformats.org/officeDocument/2006/relationships/image" Target="/ppt/media/image9.png" Id="R5f1129c927cb4c90" /><Relationship Type="http://schemas.openxmlformats.org/officeDocument/2006/relationships/image" Target="/ppt/media/image9.svg" Id="Rada6e198a9824349" /><Relationship Type="http://schemas.openxmlformats.org/officeDocument/2006/relationships/notesSlide" Target="/ppt/notesSlides/notesSlide3.xml" Id="R27858b32e8634f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b291b0927403d" /><Relationship Type="http://schemas.openxmlformats.org/officeDocument/2006/relationships/notesSlide" Target="/ppt/notesSlides/notesSlide4.xml" Id="R07d87ce2d8c348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ac2bd23d14795" /><Relationship Type="http://schemas.openxmlformats.org/officeDocument/2006/relationships/notesSlide" Target="/ppt/notesSlides/notesSlide5.xml" Id="Rb57bc1ed8a34431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B677E6-3E9F-4BDD-8828-D9D08DB4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CB943-99EC-4CD0-89E2-7DD9C170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4DE60-CEBC-4250-8A6E-F67834C2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ADD27-CFF4-4F49-8F90-30C4E67B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03AAE-5FC5-4120-981D-9AFC74B6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7C87E-2B01-4C55-BA5C-17F830FC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4208C-F7E8-41ED-A766-A79FF1A4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73456-1038-4AEF-B683-FD2D8387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091C7-191F-4070-8D0A-F05B6F05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7A8C9-AB77-4C7C-9E7F-B247F142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73CDCB-2DF8-46BF-8A1D-76A8D4EA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03BDE-A66D-4CB3-A5B1-F3C8DDF2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04AAA1-6F24-42EA-89A4-83DCEB51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1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96CE6B-A5C0-4184-87A6-F31E192D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7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00299-9508-4759-84CB-3A22E499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591BCF-8738-4CB0-88FE-A6856DE1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FEAE32-E640-4C39-83C2-7058FDEE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8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EC34EE-22C8-49B5-B2A7-6AE0E6A6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0ECFC8-0590-4C39-B68A-89A821C5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0E0DD9-B4A4-4882-813B-95E3D699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ACC506-702B-43BD-B7A1-FFAF73A9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51206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33CE65-7930-48DE-8DF5-15B5EA04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208897-CD94-40BA-9EF7-C3817F62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04900"/>
            <a:ext cx="285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9032D4-93CF-4F34-A6B0-16D348A5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28700"/>
            <a:ext cx="7524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融合迁移学习账单图像分类与 RAG 的</a:t>
            </a:r>
          </a:p>
          <a:p xmlns:a="http://schemas.openxmlformats.org/drawingml/2006/main">
            <a:pPr algn="l">
              <a:defRPr sz="32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智能财务 Agent 系统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B08539-1D90-473A-990A-7A1CEC05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241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FB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FB8C6"/>
                </a:solidFill>
                <a:latin typeface="Microsoft YaHei"/>
                <a:ea typeface="Microsoft YaHei"/>
                <a:cs typeface="Microsoft YaHei"/>
              </a:rPr>
              <a:t>多源消费流水聚合 · 账单图像识别 · 数据驱动财务分析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BDEB5D-C7AF-4556-8690-645D3AC6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433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437"/>
          </a:solidFill>
          <a:ln xmlns:a="http://schemas.openxmlformats.org/drawingml/2006/main" w="9525">
            <a:solidFill>
              <a:srgbClr val="00E5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07D1A-896D-4536-A0C6-A83D2055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195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CNN 迁移学习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7BB886-622A-4F0D-9057-275FE28D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43300"/>
            <a:ext cx="838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437"/>
          </a:solidFill>
          <a:ln xmlns:a="http://schemas.openxmlformats.org/drawingml/2006/main" w="9525">
            <a:solidFill>
              <a:srgbClr val="7C5C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AC3FFD-543A-4BA7-8111-6F44BCD1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195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5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C5CFF"/>
                </a:solidFill>
                <a:latin typeface="Microsoft YaHei"/>
                <a:ea typeface="Microsoft YaHei"/>
                <a:cs typeface="Microsoft YaHei"/>
              </a:rPr>
              <a:t>OCR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373B95-B432-4C87-9120-3981F186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4330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437"/>
          </a:solidFill>
          <a:ln xmlns:a="http://schemas.openxmlformats.org/drawingml/2006/main" w="9525">
            <a:solidFill>
              <a:srgbClr val="FF9B5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8A8CFD-0AE3-47EC-B7AF-F3B5739B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195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9B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9B54"/>
                </a:solidFill>
                <a:latin typeface="Microsoft YaHei"/>
                <a:ea typeface="Microsoft YaHei"/>
                <a:cs typeface="Microsoft YaHei"/>
              </a:rPr>
              <a:t>RAG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A5BD62-9BA3-4158-91E0-A49D7277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433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437"/>
          </a:solidFill>
          <a:ln xmlns:a="http://schemas.openxmlformats.org/drawingml/2006/main" w="9525">
            <a:solidFill>
              <a:srgbClr val="54D4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F26BD2-DCA4-4888-9BC7-5B86B85B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195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4D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4D48A"/>
                </a:solidFill>
                <a:latin typeface="Microsoft YaHei"/>
                <a:ea typeface="Microsoft YaHei"/>
                <a:cs typeface="Microsoft YaHei"/>
              </a:rPr>
              <a:t>ReAct Agent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B2158C-7F40-429E-B736-3FC1C89F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620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2437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a51d0f4d44c06">
            <a:extLst>
              <a:ext uri="{96DAC541-7B7A-43D3-8B79-37D633B846F1}">
                <asvg:svgBlip xmlns:asvg="http://schemas.microsoft.com/office/drawing/2016/SVG/main" r:embed="R5b57159bd8a5416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15450" y="160020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B71FD5-D359-4BC1-86E8-CBBE03EA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00400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3A"/>
          </a:solidFill>
          <a:ln xmlns:a="http://schemas.openxmlformats.org/drawingml/2006/main" w="19050">
            <a:solidFill>
              <a:srgbClr val="7C5CFF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9c7f6a0394166">
            <a:extLst>
              <a:ext uri="{96DAC541-7B7A-43D3-8B79-37D633B846F1}">
                <asvg:svgBlip xmlns:asvg="http://schemas.microsoft.com/office/drawing/2016/SVG/main" r:embed="R2610f142f7954e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63150" y="3457575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5E4577-908D-456E-9733-CFF213CC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76750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329B3E-51E0-4188-B6AA-D7BEE033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5300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EA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EA4B4"/>
                </a:solidFill>
                <a:latin typeface="Microsoft YaHei"/>
                <a:ea typeface="Microsoft YaHei"/>
                <a:cs typeface="Microsoft YaHei"/>
              </a:rPr>
              <a:t>期末项目前期开题 · 2 分钟汇报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BC3A1A-DC40-44B7-A62B-2074CFC4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91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F91A4"/>
                </a:solidFill>
                <a:latin typeface="Microsoft YaHei"/>
                <a:ea typeface="Microsoft YaHei"/>
                <a:cs typeface="Microsoft YaHei"/>
              </a:rPr>
              <a:t>《人工智能与机器学习》期末项目前期开题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D6C47F-5419-43C4-9573-D24CEF90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91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F91A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419890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64A645-3D92-4FBD-AC64-A598243A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649D6-F788-4773-B718-9385D3D0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8F3FF-E56F-4D65-91FB-3177940F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22FCC-96D0-458E-84F3-A64A0ED0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844EB-1FB8-45EB-BC48-3E1AD5C2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E2400-B279-4EFB-99D8-D439DE38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4CB10-C152-445B-8F3E-833F0B61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46E23-E090-45A7-AE68-9B3A25E2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069EC-BF20-492A-8251-89CAEDA4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D95E8-37E2-4C87-A72A-8A4B01B3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8B71BD-2F72-414B-8663-6FF2D8C5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6F9A6-0EC1-4D65-8164-BA58FA75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1CDDE-AA6C-4672-8C01-594FC035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1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31A6C-717C-4426-A8DF-D249425D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7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0DAF5-F8D9-48BB-9847-689C0224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7E7E45-A76A-46CF-A65D-34F68BCA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268B22-82F5-4DE2-87DE-57DA8B0A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8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C8DD1E-23F7-47F2-A46A-D5D29C83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1BD8A2-253B-4BD0-843E-B4822582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88BE66-C8D1-4F57-8AFC-F597C31B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FD7648-2FDA-4CDE-A502-01F106B4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51206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88A62E-D699-45D0-921F-7850456D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问题定义：消费数据分布在多个孤岛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262AED-FFD1-43D0-9C30-705B370D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不是数据不真实，而是统一采集和长期维护不够便捷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BAD4A4-3746-4F0F-976F-52F71253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336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B8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C2FB83-7919-4D9B-ADE6-0D9A5EDA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81300"/>
            <a:ext cx="1485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统一</a:t>
            </a:r>
          </a:p>
          <a:p xmlns:a="http://schemas.openxmlformats.org/drawingml/2006/main">
            <a:pPr algn="ctr">
              <a:defRPr sz="21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交易流水库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17DE4B-70AE-4AA8-B5C4-AF562C82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80975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36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9048d64b2414d">
            <a:extLst>
              <a:ext uri="{96DAC541-7B7A-43D3-8B79-37D633B846F1}">
                <asvg:svgBlip xmlns:asvg="http://schemas.microsoft.com/office/drawing/2016/SVG/main" r:embed="R0666015e57b8472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790700" y="20002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E93EC6-7876-459D-A21C-83BBDC4A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574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微信支付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091125-D095-4711-A954-7894F92D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71700"/>
            <a:ext cx="1295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2BD3B0-F21D-4B68-9542-351ECECA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36B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024c94cfc4d49">
            <a:extLst>
              <a:ext uri="{96DAC541-7B7A-43D3-8B79-37D633B846F1}">
                <asvg:svgBlip xmlns:asvg="http://schemas.microsoft.com/office/drawing/2016/SVG/main" r:embed="R6a454a5ab2d44b9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91550" y="20002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8A80DA-46A2-4AAD-8CF7-31C3431E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574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支付宝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9A4323-D657-44D7-A457-ECF13F50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71700"/>
            <a:ext cx="121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2BEFC2-1CEE-4DC3-A9FF-5FE1E4EA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7195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36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c8b734846448f">
            <a:extLst>
              <a:ext uri="{96DAC541-7B7A-43D3-8B79-37D633B846F1}">
                <asvg:svgBlip xmlns:asvg="http://schemas.microsoft.com/office/drawing/2016/SVG/main" r:embed="Rd73d6c765d0e486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09750" y="43624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300425-A72D-4415-A370-2579C8B0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196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银行卡 A/B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0B15DD-F3C1-435A-88B9-53360EE3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33900"/>
            <a:ext cx="1276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D3C6D9-FF24-4E20-9C37-26B66CDB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36B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220a89f8046af">
            <a:extLst>
              <a:ext uri="{96DAC541-7B7A-43D3-8B79-37D633B846F1}">
                <asvg:svgBlip xmlns:asvg="http://schemas.microsoft.com/office/drawing/2016/SVG/main" r:embed="Ra042a34f2a3b4a2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86800" y="43624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D1FEE9-A330-46B1-B2F5-C89B3940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196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信用卡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DF4A6B-CA8F-46B0-B103-1A029BEA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3390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6CFBF5-B837-4FCA-BEEA-6D82E7FA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2006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1 个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352601-A1F0-4604-AFDA-442E99F3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6197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FB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FB8C6"/>
                </a:solidFill>
                <a:latin typeface="Microsoft YaHei"/>
                <a:ea typeface="Microsoft YaHei"/>
                <a:cs typeface="Microsoft YaHei"/>
              </a:rPr>
              <a:t>统一数据视角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48AE5A-B14D-4EF8-86F2-16AD8289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57800"/>
            <a:ext cx="3714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F4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8F4F6"/>
                </a:solidFill>
                <a:latin typeface="Microsoft YaHei"/>
                <a:ea typeface="Microsoft YaHei"/>
                <a:cs typeface="Microsoft YaHei"/>
              </a:rPr>
              <a:t>将分散账单沉淀为可分析的个人财务数据资产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BF1DB4-062B-4417-A25F-42CEA6A2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91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F91A4"/>
                </a:solidFill>
                <a:latin typeface="Microsoft YaHei"/>
                <a:ea typeface="Microsoft YaHei"/>
                <a:cs typeface="Microsoft YaHei"/>
              </a:rPr>
              <a:t>《人工智能与机器学习》期末项目前期开题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1352CD-680E-46DB-89AE-9D3806CA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91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F91A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424695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EE2815-17F9-4BAF-9AFE-76C184C2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CB95F-DD84-4B2B-B44D-17C7C69D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083FA-B18D-472B-B878-614B00A4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ED281-C358-4297-90AD-3DF9526B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04CC6-5EF6-4649-B4E1-F0397C0B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C4AE2-5BB4-45BB-BD9B-8D12475A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A916B-523A-4AB5-A454-30475EFA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DAAFD-80F7-4592-8BA7-918D9F94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6721C-291F-4938-9F45-287D8613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193C02-9969-45A6-9919-C41F5AC0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7C451-8B54-4A89-963B-4BF6AD95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A2715-8E33-4538-B584-3EEF4BC9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B2B34-C0FC-40E7-8A18-0913060E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1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EA05F6-0046-4AE4-8A94-E01BBB38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7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21707-FACC-4723-9C08-FC9A88F3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BE30FD-EB0B-4371-93A3-00AC14F5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C83832-0413-49D3-BE6E-540FC5F7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8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2B698B-6561-4F90-99C3-6C79AAF0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5B99D1-E134-47EA-92E7-464C7489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3D7DF-01FC-40B2-BEDD-4FE3C342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5DB2AE-BCCC-4DDF-AB86-FA29C451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51206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9AB165-5BCF-458A-B10A-10BB86CC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技术闭环：从账单图片到 Agent 分析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563651-0C92-47C3-9105-7550C220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1600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3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9219C4-4D57-4B76-BD8E-03B2BB53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954A60-A391-47F9-A47D-0D0E741D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1257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账单图像</a:t>
            </a:r>
          </a:p>
          <a:p xmlns:a="http://schemas.openxmlformats.org/drawingml/2006/main">
            <a:pPr algn="ctr">
              <a:def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多平台截图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A4EDC8-EF75-427F-9923-C756AD22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384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4F7507-CB37-4569-97FC-EE283990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14600"/>
            <a:ext cx="238125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B76DA5-8DF7-496C-9FB5-B218D198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38350"/>
            <a:ext cx="1600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45"/>
          </a:solidFill>
          <a:ln xmlns:a="http://schemas.openxmlformats.org/drawingml/2006/main" w="9525">
            <a:solidFill>
              <a:srgbClr val="3153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836286-A71C-49B9-8B3E-63571DC2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383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27D31E-CB1A-44B9-B537-8BF68C0D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28850"/>
            <a:ext cx="1257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CNN 分类</a:t>
            </a:r>
          </a:p>
          <a:p xmlns:a="http://schemas.openxmlformats.org/drawingml/2006/main">
            <a:pPr algn="ctr">
              <a:def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来源 / 版式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3AB6C7-C554-4091-9409-7616862C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384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6035C8-C590-4F2F-80CB-396CBE0B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14600"/>
            <a:ext cx="238125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9B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30D342-71CE-438F-9AC3-5FCAF2D8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38350"/>
            <a:ext cx="1600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45"/>
          </a:solidFill>
          <a:ln xmlns:a="http://schemas.openxmlformats.org/drawingml/2006/main" w="9525">
            <a:solidFill>
              <a:srgbClr val="31536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29D031-26C4-4BB0-A7D3-94F10E90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383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E2E199-7C85-4202-A695-FE8C4D8C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28850"/>
            <a:ext cx="1257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OCR 抽取</a:t>
            </a:r>
          </a:p>
          <a:p xmlns:a="http://schemas.openxmlformats.org/drawingml/2006/main">
            <a:pPr algn="ctr">
              <a:def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金额 / 时间 / 商户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3BFF0E-ADF3-408B-AF07-3EC83132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384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F28B5B-7CFA-4375-B812-EEA4A13C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14600"/>
            <a:ext cx="238125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B6C79B-AF6E-4726-9777-AAE78067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38350"/>
            <a:ext cx="1600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45"/>
          </a:solidFill>
          <a:ln xmlns:a="http://schemas.openxmlformats.org/drawingml/2006/main" w="9525">
            <a:solidFill>
              <a:srgbClr val="31536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D1C319-E6D2-42FB-BE6A-2AF28483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383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E7B664-E000-4128-B7D5-380AD5FE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28850"/>
            <a:ext cx="1257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统一流水库</a:t>
            </a:r>
          </a:p>
          <a:p xmlns:a="http://schemas.openxmlformats.org/drawingml/2006/main">
            <a:pPr algn="ctr">
              <a:def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去重 / 分类 / 归档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600B5C-63E7-41D8-BE78-43F35D48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384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E13549-E068-4FB9-8BDB-0480D148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14600"/>
            <a:ext cx="238125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466517-1C42-4870-A9E8-E6102CD6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38350"/>
            <a:ext cx="1600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45"/>
          </a:solidFill>
          <a:ln xmlns:a="http://schemas.openxmlformats.org/drawingml/2006/main" w="9525">
            <a:solidFill>
              <a:srgbClr val="31536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654259-D847-4656-92F0-C8F9E35B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383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4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E381E5-0028-47D9-9AC1-44852B9E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28850"/>
            <a:ext cx="1257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RAG + Agent</a:t>
            </a:r>
          </a:p>
          <a:p xmlns:a="http://schemas.openxmlformats.org/drawingml/2006/main">
            <a:pPr algn="ctr">
              <a:def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预算 / 预警 / 建议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7CAE6E-6D22-4A94-B7A2-799E3543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791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437"/>
          </a:solidFill>
          <a:ln xmlns:a="http://schemas.openxmlformats.org/drawingml/2006/main" w="9525">
            <a:solidFill>
              <a:srgbClr val="31536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D5A311-6081-4D92-8B97-413320C0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00550"/>
            <a:ext cx="9105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8F4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8F4F6"/>
                </a:solidFill>
                <a:latin typeface="Microsoft YaHei"/>
                <a:ea typeface="Microsoft YaHei"/>
                <a:cs typeface="Microsoft YaHei"/>
              </a:rPr>
              <a:t>图像分类是高质量数据入口；财务 Agent 是最终价值出口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b143cef384f36">
            <a:extLst>
              <a:ext uri="{96DAC541-7B7A-43D3-8B79-37D633B846F1}">
                <asvg:svgBlip xmlns:asvg="http://schemas.microsoft.com/office/drawing/2016/SVG/main" r:embed="Rf8e03b55f78748b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19450" y="5334000"/>
            <a:ext cx="381000" cy="381000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9260d7a74a4c3d">
            <a:extLst>
              <a:ext uri="{96DAC541-7B7A-43D3-8B79-37D633B846F1}">
                <asvg:svgBlip xmlns:asvg="http://schemas.microsoft.com/office/drawing/2016/SVG/main" r:embed="R6f68f1bb42114d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86450" y="5334000"/>
            <a:ext cx="381000" cy="381000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129c927cb4c90">
            <a:extLst>
              <a:ext uri="{96DAC541-7B7A-43D3-8B79-37D633B846F1}">
                <asvg:svgBlip xmlns:asvg="http://schemas.microsoft.com/office/drawing/2016/SVG/main" r:embed="Rada6e198a98243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53450" y="53340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6EB87F-51C9-4C45-854E-37F5C8B7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91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F91A4"/>
                </a:solidFill>
                <a:latin typeface="Microsoft YaHei"/>
                <a:ea typeface="Microsoft YaHei"/>
                <a:cs typeface="Microsoft YaHei"/>
              </a:rPr>
              <a:t>《人工智能与机器学习》期末项目前期开题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DE22F25-A743-4691-945C-98D86C7F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91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F91A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357047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6072DD-0238-4657-848C-7E3AED1A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4EB90-D1CB-400A-B5CD-D34548BC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算法验证：CNN 迁移学习账单分类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6E8CA-9FC0-4E95-A164-2729B95A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B8"/>
                </a:solidFill>
                <a:latin typeface="Microsoft YaHei"/>
                <a:ea typeface="Microsoft YaHei"/>
                <a:cs typeface="Microsoft YaHei"/>
              </a:rPr>
              <a:t>课程核心落点：模型对比、微调策略、可解释性分析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A313C-65A2-42E8-9A7F-074E9404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31813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3153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474B9-6D7D-4CE6-BB4C-FE5E0FAA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C3B2A-63AC-4F3F-98A7-C76E3180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669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分类任务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C4FB2-92EE-4B86-9C40-666A4DFC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微信账单</a:t>
            </a:r>
          </a:p>
          <a:p xmlns:a="http://schemas.openxmlformats.org/drawingml/2006/main">
            <a:pPr algn="l">
              <a:defRPr sz="13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支付宝账单</a:t>
            </a:r>
          </a:p>
          <a:p xmlns:a="http://schemas.openxmlformats.org/drawingml/2006/main">
            <a:pPr algn="l">
              <a:defRPr sz="13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银行流水</a:t>
            </a:r>
          </a:p>
          <a:p xmlns:a="http://schemas.openxmlformats.org/drawingml/2006/main">
            <a:pPr algn="l">
              <a:defRPr sz="13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信用卡账单</a:t>
            </a:r>
          </a:p>
          <a:p xmlns:a="http://schemas.openxmlformats.org/drawingml/2006/main">
            <a:pPr algn="l">
              <a:defRPr sz="13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无效/低质量图片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FF586-AF82-48CD-91E7-723AC3C1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81150"/>
            <a:ext cx="31813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3153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DD26C-025A-40A5-BF55-46C72166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8115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545B7-4D46-432B-9B2F-0803AD61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8669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模型对比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28906-9300-401C-BA88-31977815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00300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ResNet-18</a:t>
            </a:r>
          </a:p>
          <a:p xmlns:a="http://schemas.openxmlformats.org/drawingml/2006/main">
            <a:pPr algn="l">
              <a:defRPr sz="13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MobileNetV3</a:t>
            </a:r>
          </a:p>
          <a:p xmlns:a="http://schemas.openxmlformats.org/drawingml/2006/main">
            <a:pPr algn="l">
              <a:defRPr sz="13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EfficientNet-B0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冻结骨干 / 部分微调 / 全量微调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90E19C-C5EA-4A0D-8241-199B9425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81150"/>
            <a:ext cx="31813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3153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2422B-07A6-42F4-AD89-4D59C0CD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8115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E2126-317E-4156-A4F7-CE562AFC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669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评价指标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5AF62-A117-4CBC-8F2E-0728F1FA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00300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Accuracy / F1</a:t>
            </a:r>
          </a:p>
          <a:p xmlns:a="http://schemas.openxmlformats.org/drawingml/2006/main">
            <a:pPr algn="l">
              <a:defRPr sz="13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混淆矩阵</a:t>
            </a:r>
          </a:p>
          <a:p xmlns:a="http://schemas.openxmlformats.org/drawingml/2006/main">
            <a:pPr algn="l">
              <a:defRPr sz="13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推理时间</a:t>
            </a:r>
          </a:p>
          <a:p xmlns:a="http://schemas.openxmlformats.org/drawingml/2006/main">
            <a:pPr algn="l">
              <a:defRPr sz="13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模型大小</a:t>
            </a:r>
          </a:p>
          <a:p xmlns:a="http://schemas.openxmlformats.org/drawingml/2006/main">
            <a:pPr algn="l">
              <a:defRPr sz="13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Grad-CAM 热力图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B05F2-FAAB-41BA-BB5A-C8E44B39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219700"/>
            <a:ext cx="727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65D99F-7106-40A3-8718-A48F95C6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43525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目标：证明账单图像分类能稳定支撑后续 OCR 和数据导入流程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D52A71-06E0-4450-9175-E52FF275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90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390A0"/>
                </a:solidFill>
                <a:latin typeface="Microsoft YaHei"/>
                <a:ea typeface="Microsoft YaHei"/>
                <a:cs typeface="Microsoft YaHei"/>
              </a:rPr>
              <a:t>《人工智能与机器学习》期末项目前期开题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8190E2-5095-4413-AD74-3078A35F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90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390A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563911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718C52-4150-402A-95DF-81BAAB59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0D4B4-F708-4928-BFF2-9EC9571D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B1C5B-96F9-4E00-87C5-65C61B01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7A764-10AE-4EC3-A6F8-73768886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227E1-6143-4D0D-9994-DAACD9D4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83103-E3DF-476F-96F3-30629274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96D3C-48CB-405E-87C3-C741CFEA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B8278-F7A5-48BB-8DBD-577BC693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1B4E4-601D-4F39-ADA7-27284D0F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E64E2C-1B29-467D-B8D4-8EF97F7A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616E1-DCC8-4F6B-AB27-25570052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72093E-1FAF-4507-BF56-567376E3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6F4B1-901C-4E98-AEC1-503DF047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1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F8866-1CEE-40A8-81E9-D296C223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7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42B9AE-4202-4C50-A35A-D059B03D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F8E42-7ED3-4904-8245-77D34A01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EDA029-3A0F-4A77-8C5F-83AAE056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8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B754C8-BEC6-4FF2-89D3-347D645F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441ECD-51FA-43AC-9955-E9E7E56F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64CA86-19DD-4170-BD79-337CE7A3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CBDF98-578B-4350-A135-2475C966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51206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51C82B-3444-484E-8B18-C89B8C75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现有基础与预期交付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9AA32B-1006-4DB7-9402-704A2535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4762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3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5B69C2-FBDD-4D3E-A1D1-F84E6292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47B423-DBDA-4C06-84D1-9C50FC42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90700"/>
            <a:ext cx="3905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已有系统能力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CC516B-8783-44AF-9DEB-D182F7FD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3905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A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8EAF0"/>
                </a:solidFill>
                <a:latin typeface="Microsoft YaHei"/>
                <a:ea typeface="Microsoft YaHei"/>
                <a:cs typeface="Microsoft YaHei"/>
              </a:rPr>
              <a:t>交易记录与分类管理</a:t>
            </a:r>
          </a:p>
          <a:p xmlns:a="http://schemas.openxmlformats.org/drawingml/2006/main">
            <a:pPr algn="l">
              <a:defRPr sz="1350" b="0">
                <a:solidFill>
                  <a:srgbClr val="D8EA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8EAF0"/>
                </a:solidFill>
                <a:latin typeface="Microsoft YaHei"/>
                <a:ea typeface="Microsoft YaHei"/>
                <a:cs typeface="Microsoft YaHei"/>
              </a:rPr>
              <a:t>预算管理与风险预警</a:t>
            </a:r>
          </a:p>
          <a:p xmlns:a="http://schemas.openxmlformats.org/drawingml/2006/main">
            <a:pPr algn="l">
              <a:defRPr sz="1350" b="0">
                <a:solidFill>
                  <a:srgbClr val="D8EA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8EAF0"/>
                </a:solidFill>
                <a:latin typeface="Microsoft YaHei"/>
                <a:ea typeface="Microsoft YaHei"/>
                <a:cs typeface="Microsoft YaHei"/>
              </a:rPr>
              <a:t>收支统计图表</a:t>
            </a:r>
          </a:p>
          <a:p xmlns:a="http://schemas.openxmlformats.org/drawingml/2006/main">
            <a:pPr algn="l">
              <a:defRPr sz="1350" b="0">
                <a:solidFill>
                  <a:srgbClr val="D8EA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8EAF0"/>
                </a:solidFill>
                <a:latin typeface="Microsoft YaHei"/>
                <a:ea typeface="Microsoft YaHei"/>
                <a:cs typeface="Microsoft YaHei"/>
              </a:rPr>
              <a:t>RAG 知识增强</a:t>
            </a:r>
          </a:p>
          <a:p xmlns:a="http://schemas.openxmlformats.org/drawingml/2006/main">
            <a:pPr algn="l">
              <a:defRPr sz="1350" b="0">
                <a:solidFill>
                  <a:srgbClr val="D8EA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8EAF0"/>
                </a:solidFill>
                <a:latin typeface="Microsoft YaHei"/>
                <a:ea typeface="Microsoft YaHei"/>
                <a:cs typeface="Microsoft YaHei"/>
              </a:rPr>
              <a:t>显式 ReAct 财务 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3AC3AA-8088-4E37-B162-60E171BC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66850"/>
            <a:ext cx="4762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36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0EA766-D99A-4841-B0DA-46590BDE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6685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3C74FF-983F-47EF-8CCA-8B54CBE8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90700"/>
            <a:ext cx="3905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本阶段新增交付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8497EB-562B-4D67-9E2E-1F2A7CA5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00300"/>
            <a:ext cx="3905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A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8EAF0"/>
                </a:solidFill>
                <a:latin typeface="Microsoft YaHei"/>
                <a:ea typeface="Microsoft YaHei"/>
                <a:cs typeface="Microsoft YaHei"/>
              </a:rPr>
              <a:t>账单图像数据集</a:t>
            </a:r>
          </a:p>
          <a:p xmlns:a="http://schemas.openxmlformats.org/drawingml/2006/main">
            <a:pPr algn="l">
              <a:defRPr sz="1350" b="0">
                <a:solidFill>
                  <a:srgbClr val="D8EA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8EAF0"/>
                </a:solidFill>
                <a:latin typeface="Microsoft YaHei"/>
                <a:ea typeface="Microsoft YaHei"/>
                <a:cs typeface="Microsoft YaHei"/>
              </a:rPr>
              <a:t>迁移学习分类模型</a:t>
            </a:r>
          </a:p>
          <a:p xmlns:a="http://schemas.openxmlformats.org/drawingml/2006/main">
            <a:pPr algn="l">
              <a:defRPr sz="1350" b="0">
                <a:solidFill>
                  <a:srgbClr val="D8EA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8EAF0"/>
                </a:solidFill>
                <a:latin typeface="Microsoft YaHei"/>
                <a:ea typeface="Microsoft YaHei"/>
                <a:cs typeface="Microsoft YaHei"/>
              </a:rPr>
              <a:t>OCR 结构化导入</a:t>
            </a:r>
          </a:p>
          <a:p xmlns:a="http://schemas.openxmlformats.org/drawingml/2006/main">
            <a:pPr algn="l">
              <a:defRPr sz="1350" b="0">
                <a:solidFill>
                  <a:srgbClr val="D8EA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8EAF0"/>
                </a:solidFill>
                <a:latin typeface="Microsoft YaHei"/>
                <a:ea typeface="Microsoft YaHei"/>
                <a:cs typeface="Microsoft YaHei"/>
              </a:rPr>
              <a:t>端到端系统演示</a:t>
            </a:r>
          </a:p>
          <a:p xmlns:a="http://schemas.openxmlformats.org/drawingml/2006/main">
            <a:pPr algn="l">
              <a:defRPr sz="1350" b="0">
                <a:solidFill>
                  <a:srgbClr val="D8EA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8EAF0"/>
                </a:solidFill>
                <a:latin typeface="Microsoft YaHei"/>
                <a:ea typeface="Microsoft YaHei"/>
                <a:cs typeface="Microsoft YaHei"/>
              </a:rPr>
              <a:t>实验结果与期末论文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2B5991-CA5A-441C-A66B-96891200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19700"/>
            <a:ext cx="9791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437"/>
          </a:solidFill>
          <a:ln xmlns:a="http://schemas.openxmlformats.org/drawingml/2006/main" w="9525">
            <a:solidFill>
              <a:srgbClr val="3153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A44287-42B3-4807-B6E9-7740EC18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62575"/>
            <a:ext cx="922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8F4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8F4F6"/>
                </a:solidFill>
                <a:latin typeface="Microsoft YaHei"/>
                <a:ea typeface="Microsoft YaHei"/>
                <a:cs typeface="Microsoft YaHei"/>
              </a:rPr>
              <a:t>第1周 数据采集与标注  →  第2周 模型训练与对比  →  第3周 系统集成与测试  →  期末 论文与答辩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819935-70AD-4F47-AC58-BE5A5CE7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91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F91A4"/>
                </a:solidFill>
                <a:latin typeface="Microsoft YaHei"/>
                <a:ea typeface="Microsoft YaHei"/>
                <a:cs typeface="Microsoft YaHei"/>
              </a:rPr>
              <a:t>《人工智能与机器学习》期末项目前期开题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EA0858-5A1F-4B9E-882B-00624862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91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F91A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629209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2026-06-07T18:22:57.3020000Z</dcterms:created>
  <dcterms:modified xsi:type="dcterms:W3CDTF">2026-06-07T18:22:57.3030000Z</dcterms:modified>
</coreProperties>
</file>